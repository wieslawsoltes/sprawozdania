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Żłobek 0–2</c:v>
                </c:pt>
              </c:strCache>
            </c:strRef>
          </c:tx>
          <c:cat>
            <c:numRef>
              <c:f>Sheet1!$A$2:$A$6</c:f>
              <c:numCache>
                <c:formatCode>General</c:formatCode>
                <c:ptCount val="5"/>
                <c:pt idx="0">
                  <c:v>2023</c:v>
                </c:pt>
                <c:pt idx="1">
                  <c:v>2030</c:v>
                </c:pt>
                <c:pt idx="2">
                  <c:v>2040</c:v>
                </c:pt>
                <c:pt idx="3">
                  <c:v>2050</c:v>
                </c:pt>
                <c:pt idx="4">
                  <c:v>2060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4242</c:v>
                </c:pt>
                <c:pt idx="1">
                  <c:v>3620</c:v>
                </c:pt>
                <c:pt idx="2">
                  <c:v>3562</c:v>
                </c:pt>
                <c:pt idx="3">
                  <c:v>3376</c:v>
                </c:pt>
                <c:pt idx="4">
                  <c:v>2680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Przedszkole 3–6</c:v>
                </c:pt>
              </c:strCache>
            </c:strRef>
          </c:tx>
          <c:cat>
            <c:numRef>
              <c:f>Sheet1!$A$2:$A$6</c:f>
              <c:numCache>
                <c:formatCode>General</c:formatCode>
                <c:ptCount val="5"/>
                <c:pt idx="0">
                  <c:v>2023</c:v>
                </c:pt>
                <c:pt idx="1">
                  <c:v>2030</c:v>
                </c:pt>
                <c:pt idx="2">
                  <c:v>2040</c:v>
                </c:pt>
                <c:pt idx="3">
                  <c:v>2050</c:v>
                </c:pt>
                <c:pt idx="4">
                  <c:v>2060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7724</c:v>
                </c:pt>
                <c:pt idx="1">
                  <c:v>5276</c:v>
                </c:pt>
                <c:pt idx="2">
                  <c:v>4842</c:v>
                </c:pt>
                <c:pt idx="3">
                  <c:v>4890</c:v>
                </c:pt>
                <c:pt idx="4">
                  <c:v>4050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Szkoła 7–18</c:v>
                </c:pt>
              </c:strCache>
            </c:strRef>
          </c:tx>
          <c:cat>
            <c:numRef>
              <c:f>Sheet1!$A$2:$A$6</c:f>
              <c:numCache>
                <c:formatCode>General</c:formatCode>
                <c:ptCount val="5"/>
                <c:pt idx="0">
                  <c:v>2023</c:v>
                </c:pt>
                <c:pt idx="1">
                  <c:v>2030</c:v>
                </c:pt>
                <c:pt idx="2">
                  <c:v>2040</c:v>
                </c:pt>
                <c:pt idx="3">
                  <c:v>2050</c:v>
                </c:pt>
                <c:pt idx="4">
                  <c:v>2060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22936</c:v>
                </c:pt>
                <c:pt idx="1">
                  <c:v>22240</c:v>
                </c:pt>
                <c:pt idx="2">
                  <c:v>15932</c:v>
                </c:pt>
                <c:pt idx="3">
                  <c:v>15122</c:v>
                </c:pt>
                <c:pt idx="4">
                  <c:v>14616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0–18</c:v>
                </c:pt>
              </c:strCache>
            </c:strRef>
          </c:tx>
          <c:marker>
            <c:symbol val="none"/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2023</c:v>
                </c:pt>
                <c:pt idx="1">
                  <c:v>2030</c:v>
                </c:pt>
                <c:pt idx="2">
                  <c:v>2040</c:v>
                </c:pt>
                <c:pt idx="3">
                  <c:v>2050</c:v>
                </c:pt>
                <c:pt idx="4">
                  <c:v>2060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34902</c:v>
                </c:pt>
                <c:pt idx="1">
                  <c:v>31136</c:v>
                </c:pt>
                <c:pt idx="2">
                  <c:v>24336</c:v>
                </c:pt>
                <c:pt idx="3">
                  <c:v>23388</c:v>
                </c:pt>
                <c:pt idx="4">
                  <c:v>21346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0–9 (brak podziału 0–2/3–6)</c:v>
                </c:pt>
              </c:strCache>
            </c:strRef>
          </c:tx>
          <c:cat>
            <c:numRef>
              <c:f>Sheet1!$A$2:$A$4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2030</c:v>
                </c:pt>
                <c:pt idx="2">
                  <c:v>2040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8484</c:v>
                </c:pt>
                <c:pt idx="1">
                  <c:v>6386</c:v>
                </c:pt>
                <c:pt idx="2">
                  <c:v>5444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10–19 (przybliżenie szkolne)</c:v>
                </c:pt>
              </c:strCache>
            </c:strRef>
          </c:tx>
          <c:cat>
            <c:numRef>
              <c:f>Sheet1!$A$2:$A$4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2030</c:v>
                </c:pt>
                <c:pt idx="2">
                  <c:v>2040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8896</c:v>
                </c:pt>
                <c:pt idx="1">
                  <c:v>9364</c:v>
                </c:pt>
                <c:pt idx="2">
                  <c:v>6810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0–17 łącznie</c:v>
                </c:pt>
              </c:strCache>
            </c:strRef>
          </c:tx>
          <c:cat>
            <c:numRef>
              <c:f>Sheet1!$A$2:$A$4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2030</c:v>
                </c:pt>
                <c:pt idx="2">
                  <c:v>2040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15640</c:v>
                </c:pt>
                <c:pt idx="1">
                  <c:v>13886</c:v>
                </c:pt>
                <c:pt idx="2">
                  <c:v>10656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Demografia i zapotrzebowanie miejsc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Racibórz i powiat raciborski, prognoza GUS 2023–2060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Zakres danych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Powiat raciborski: prognoza 2023–2060, grupy 0–2 / 3–6 / 7–18.</a:t>
            </a:r>
          </a:p>
          <a:p>
            <a:pPr>
              <a:defRPr sz="1400"/>
            </a:pPr>
            <a:r>
              <a:t>Miasto Racibórz: prognoza 2023–2040, dostępne grupy 0–9, 10–19, 0–17 (brak rozbicia 0–2/3–6).</a:t>
            </a:r>
          </a:p>
          <a:p>
            <a:pPr>
              <a:defRPr sz="1400"/>
            </a:pPr>
            <a:r>
              <a:t>Założenie: zapotrzebowanie na miejsca = 100% liczebności danej grupy wiekowej.</a:t>
            </a:r>
          </a:p>
          <a:p>
            <a:pPr>
              <a:defRPr sz="1400"/>
            </a:pPr>
            <a:r>
              <a:t>Dane finansowe placówek dostępne osobno w raport_finansowy_2024.xlsx (koszt/ucznia).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Powiat raciborski – zapotrzebowanie miejsc (żłobek/przedszkole/szkoła)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Powiat raciborski – łącznie dzieci 0–18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Miasto Racibórz – dostępne grupy (0–9, 10–19, 0–17)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Kluczowe uwagi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Miasto Racibórz: brak rozbicia na 0–2 i 3–6 – zalecane uzupełnienie danymi lokalnymi.</a:t>
            </a:r>
          </a:p>
          <a:p>
            <a:pPr>
              <a:defRPr sz="1400"/>
            </a:pPr>
            <a:r>
              <a:t>Powiat: pełne rozbicie 0–2/3–6/7–18 dostępne z prognozy GUS 2023–2060.</a:t>
            </a:r>
          </a:p>
          <a:p>
            <a:pPr>
              <a:defRPr sz="1400"/>
            </a:pPr>
            <a:r>
              <a:t>Kolejne kroki: zestawić z pojemnością placówek (żłobki, przedszkola, szkoły) i kosztami/ucznia.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